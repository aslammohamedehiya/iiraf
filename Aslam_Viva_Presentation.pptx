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6858000" cx="9144000"/>
  <p:notesSz cx="6858000" cy="9144000"/>
  <p:embeddedFontLst>
    <p:embeddedFont>
      <p:font typeface="Inter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8" roundtripDataSignature="AMtx7mjDHcw9rd2JLyf+QFq0FYFmht9Ob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6694EF7-C9C5-4FDD-8F25-39F59338CD3D}">
  <a:tblStyle styleId="{F6694EF7-C9C5-4FDD-8F25-39F59338CD3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507D5991-B0F4-4C90-BD46-75C6E19B6DFB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Inter-bold.fntdata"/><Relationship Id="rId14" Type="http://schemas.openxmlformats.org/officeDocument/2006/relationships/font" Target="fonts/Inter-regular.fntdata"/><Relationship Id="rId17" Type="http://schemas.openxmlformats.org/officeDocument/2006/relationships/font" Target="fonts/Inter-boldItalic.fntdata"/><Relationship Id="rId16" Type="http://schemas.openxmlformats.org/officeDocument/2006/relationships/font" Target="fonts/Inter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8" Type="http://customschemas.google.com/relationships/presentationmetadata" Target="meta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a94f65de6_0_19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a94f65de6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a94f65de6_0_1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aa94f65de6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a94f65de6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aa94f65de6_0_24:notes"/>
          <p:cNvSpPr/>
          <p:nvPr>
            <p:ph idx="2" type="sldImg"/>
          </p:nvPr>
        </p:nvSpPr>
        <p:spPr>
          <a:xfrm>
            <a:off x="1714763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aa94f65de6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aa94f65de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a94f65de6_0_1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aa94f65de6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8" name="Google Shape;3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1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5" name="Google Shape;45;p1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1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7" name="Google Shape;47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20" Type="http://schemas.openxmlformats.org/officeDocument/2006/relationships/image" Target="../media/image4.png"/><Relationship Id="rId11" Type="http://schemas.openxmlformats.org/officeDocument/2006/relationships/image" Target="../media/image8.png"/><Relationship Id="rId22" Type="http://schemas.openxmlformats.org/officeDocument/2006/relationships/image" Target="../media/image20.png"/><Relationship Id="rId10" Type="http://schemas.openxmlformats.org/officeDocument/2006/relationships/image" Target="../media/image5.png"/><Relationship Id="rId21" Type="http://schemas.openxmlformats.org/officeDocument/2006/relationships/image" Target="../media/image19.png"/><Relationship Id="rId13" Type="http://schemas.openxmlformats.org/officeDocument/2006/relationships/image" Target="../media/image13.png"/><Relationship Id="rId1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9.png"/><Relationship Id="rId15" Type="http://schemas.openxmlformats.org/officeDocument/2006/relationships/image" Target="../media/image12.png"/><Relationship Id="rId14" Type="http://schemas.openxmlformats.org/officeDocument/2006/relationships/image" Target="../media/image11.png"/><Relationship Id="rId17" Type="http://schemas.openxmlformats.org/officeDocument/2006/relationships/image" Target="../media/image6.png"/><Relationship Id="rId16" Type="http://schemas.openxmlformats.org/officeDocument/2006/relationships/image" Target="../media/image14.png"/><Relationship Id="rId5" Type="http://schemas.openxmlformats.org/officeDocument/2006/relationships/image" Target="../media/image10.png"/><Relationship Id="rId19" Type="http://schemas.openxmlformats.org/officeDocument/2006/relationships/image" Target="../media/image17.png"/><Relationship Id="rId6" Type="http://schemas.openxmlformats.org/officeDocument/2006/relationships/image" Target="../media/image15.png"/><Relationship Id="rId18" Type="http://schemas.openxmlformats.org/officeDocument/2006/relationships/image" Target="../media/image3.png"/><Relationship Id="rId7" Type="http://schemas.openxmlformats.org/officeDocument/2006/relationships/image" Target="../media/image18.png"/><Relationship Id="rId8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An AI-Driven Self-Service Tool for Incident Triaging &amp; Prevention 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>
                <a:solidFill>
                  <a:srgbClr val="888888"/>
                </a:solidFill>
              </a:rPr>
              <a:t>Aslam Mohamed Ehiya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0" name="Google Shape;90;g3aa94f65de6_0_196"/>
          <p:cNvGraphicFramePr/>
          <p:nvPr/>
        </p:nvGraphicFramePr>
        <p:xfrm>
          <a:off x="390014" y="4843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{F6694EF7-C9C5-4FDD-8F25-39F59338CD3D}</a:tableStyleId>
              </a:tblPr>
              <a:tblGrid>
                <a:gridCol w="4165775"/>
                <a:gridCol w="41657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5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Problem Statement</a:t>
                      </a:r>
                      <a:endParaRPr b="1" sz="25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5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Proposed  Solution</a:t>
                      </a:r>
                      <a:endParaRPr b="1" sz="25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0B539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-3238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500"/>
                        <a:buFont typeface="Calibri"/>
                        <a:buChar char="●"/>
                      </a:pPr>
                      <a:r>
                        <a:rPr lang="en-US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User issues are written in unstructured natural language.</a:t>
                      </a:r>
                      <a:br>
                        <a:rPr lang="en-US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endParaRPr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3238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500"/>
                        <a:buFont typeface="Calibri"/>
                        <a:buChar char="●"/>
                      </a:pPr>
                      <a:r>
                        <a:rPr lang="en-US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Mapping user symptoms to technical issues is difficult.</a:t>
                      </a:r>
                      <a:br>
                        <a:rPr lang="en-US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endParaRPr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3238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500"/>
                        <a:buFont typeface="Calibri"/>
                        <a:buChar char="●"/>
                      </a:pPr>
                      <a:r>
                        <a:rPr lang="en-US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Manual searching of past incidents delays triaging.</a:t>
                      </a:r>
                      <a:br>
                        <a:rPr lang="en-US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endParaRPr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3238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500"/>
                        <a:buFont typeface="Calibri"/>
                        <a:buChar char="●"/>
                      </a:pPr>
                      <a:r>
                        <a:rPr lang="en-US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Recurring incidents are not detected automatically.</a:t>
                      </a:r>
                      <a:br>
                        <a:rPr lang="en-US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endParaRPr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3238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500"/>
                        <a:buFont typeface="Calibri"/>
                        <a:buChar char="●"/>
                      </a:pPr>
                      <a:r>
                        <a:rPr lang="en-US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Resolution steps are inconsistent across L1/L2 teams.</a:t>
                      </a:r>
                      <a:br>
                        <a:rPr lang="en-US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endParaRPr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3238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500"/>
                        <a:buFont typeface="Calibri"/>
                        <a:buChar char="●"/>
                      </a:pPr>
                      <a:r>
                        <a:rPr lang="en-US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 dependency on L1 agents increases MTTR.</a:t>
                      </a:r>
                      <a:br>
                        <a:rPr lang="en-US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endParaRPr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3238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500"/>
                        <a:buFont typeface="Calibri"/>
                        <a:buChar char="●"/>
                      </a:pPr>
                      <a:r>
                        <a:rPr lang="en-US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Large ITSM repositories (ServiceNow/Jira) are underutilized.</a:t>
                      </a:r>
                      <a:br>
                        <a:rPr lang="en-US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endParaRPr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3238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500"/>
                        <a:buFont typeface="Calibri"/>
                        <a:buChar char="●"/>
                      </a:pPr>
                      <a:r>
                        <a:rPr lang="en-US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automation exists for repeated or known issue types.</a:t>
                      </a:r>
                      <a:endParaRPr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238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500"/>
                        <a:buFont typeface="Calibri"/>
                        <a:buChar char="●"/>
                      </a:pPr>
                      <a:r>
                        <a:rPr lang="en-US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 </a:t>
                      </a:r>
                      <a:r>
                        <a:rPr b="1" lang="en-US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NLP embeddings</a:t>
                      </a:r>
                      <a:r>
                        <a:rPr lang="en-US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to understand user issue descriptions.</a:t>
                      </a:r>
                      <a:br>
                        <a:rPr lang="en-US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endParaRPr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3238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500"/>
                        <a:buFont typeface="Calibri"/>
                        <a:buChar char="●"/>
                      </a:pPr>
                      <a:r>
                        <a:rPr lang="en-US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Implement F</a:t>
                      </a:r>
                      <a:r>
                        <a:rPr b="1" lang="en-US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AISS-based semantic search</a:t>
                      </a:r>
                      <a:r>
                        <a:rPr lang="en-US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to retrieve similar incidents instantly.</a:t>
                      </a:r>
                      <a:br>
                        <a:rPr lang="en-US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endParaRPr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3238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500"/>
                        <a:buFont typeface="Calibri"/>
                        <a:buChar char="●"/>
                      </a:pPr>
                      <a:r>
                        <a:rPr lang="en-US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Detect recurring issues using clustering (</a:t>
                      </a:r>
                      <a:r>
                        <a:rPr b="1" lang="en-US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KMeans/HDBSCAN</a:t>
                      </a:r>
                      <a:r>
                        <a:rPr lang="en-US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).</a:t>
                      </a:r>
                      <a:br>
                        <a:rPr lang="en-US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endParaRPr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3238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500"/>
                        <a:buFont typeface="Calibri"/>
                        <a:buChar char="●"/>
                      </a:pPr>
                      <a:r>
                        <a:rPr lang="en-US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Provide ranked resolution steps from historical fixes.</a:t>
                      </a:r>
                      <a:br>
                        <a:rPr lang="en-US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endParaRPr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3238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500"/>
                        <a:buFont typeface="Calibri"/>
                        <a:buChar char="●"/>
                      </a:pPr>
                      <a:r>
                        <a:rPr lang="en-US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Train </a:t>
                      </a:r>
                      <a:r>
                        <a:rPr b="1" lang="en-US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XGBoost</a:t>
                      </a:r>
                      <a:r>
                        <a:rPr lang="en-US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to recommend or trigger </a:t>
                      </a:r>
                      <a:r>
                        <a:rPr b="1" lang="en-US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auto-heal </a:t>
                      </a:r>
                      <a:r>
                        <a:rPr lang="en-US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actions.</a:t>
                      </a:r>
                      <a:br>
                        <a:rPr lang="en-US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endParaRPr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3238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500"/>
                        <a:buFont typeface="Calibri"/>
                        <a:buChar char="●"/>
                      </a:pPr>
                      <a:r>
                        <a:rPr lang="en-US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Integrate KB + incident retrieval for unified guidance.</a:t>
                      </a:r>
                      <a:br>
                        <a:rPr lang="en-US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endParaRPr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3238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500"/>
                        <a:buFont typeface="Calibri"/>
                        <a:buChar char="●"/>
                      </a:pPr>
                      <a:r>
                        <a:rPr lang="en-US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Provide an AI-assisted interface for L1/L2 teams.</a:t>
                      </a:r>
                      <a:br>
                        <a:rPr lang="en-US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endParaRPr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3238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500"/>
                        <a:buFont typeface="Calibri"/>
                        <a:buChar char="●"/>
                      </a:pPr>
                      <a:r>
                        <a:rPr lang="en-US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 MLOps (MLflow, Docker, CI/CD) for continuous improvement.</a:t>
                      </a:r>
                      <a:endParaRPr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5" name="Google Shape;95;g3aa94f65de6_0_162"/>
          <p:cNvGraphicFramePr/>
          <p:nvPr/>
        </p:nvGraphicFramePr>
        <p:xfrm>
          <a:off x="704069" y="282420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{507D5991-B0F4-4C90-BD46-75C6E19B6DFB}</a:tableStyleId>
              </a:tblPr>
              <a:tblGrid>
                <a:gridCol w="2269775"/>
                <a:gridCol w="1394875"/>
                <a:gridCol w="4201150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Research Paper</a:t>
                      </a:r>
                      <a:endParaRPr b="1" sz="15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Author(s)</a:t>
                      </a:r>
                      <a:endParaRPr b="1" sz="15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Key Concept Learned</a:t>
                      </a:r>
                      <a:endParaRPr b="1" sz="15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394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Billion-Scale Similarity Search with GPUs</a:t>
                      </a:r>
                      <a:endParaRPr b="1"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Jeff Johnson, Matthijs Douze, Hervé Jégou</a:t>
                      </a:r>
                      <a:endParaRPr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Demonstrates scalable semantic similarity search; validates using FAISS for fast incident retrieval and future scaling to large ITSM datasets.</a:t>
                      </a:r>
                      <a:endParaRPr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AIOps in Cloud-Native DevOps: IT Operations Management with AI</a:t>
                      </a:r>
                      <a:endParaRPr b="1"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Sumanth Tatineni</a:t>
                      </a:r>
                      <a:endParaRPr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Supports automation-driven incident management; reinforces need for intelligent triaging, pattern detection, and automated remediation within IIRAF.</a:t>
                      </a:r>
                      <a:endParaRPr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XGBoost: A Scalable Tree Boosting System</a:t>
                      </a:r>
                      <a:endParaRPr b="1"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Tianqi Chen &amp; Carlos Guestrin</a:t>
                      </a:r>
                      <a:endParaRPr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Justifies using XGBoost for auto-heal predictions; highlights performance, scalability, and suitability for tabular incident data.</a:t>
                      </a:r>
                      <a:endParaRPr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6" name="Google Shape;96;g3aa94f65de6_0_162"/>
          <p:cNvSpPr txBox="1"/>
          <p:nvPr/>
        </p:nvSpPr>
        <p:spPr>
          <a:xfrm>
            <a:off x="703979" y="1233136"/>
            <a:ext cx="7865700" cy="1339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research paper contributes a foundational component: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FAISS paper supports our semantic retrieval engine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XGBoost paper guides our model choice for auto-heal decisioning.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AIOps paper validates our automation approach.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g3aa94f65de6_0_162"/>
          <p:cNvSpPr txBox="1"/>
          <p:nvPr>
            <p:ph type="title"/>
          </p:nvPr>
        </p:nvSpPr>
        <p:spPr>
          <a:xfrm>
            <a:off x="457200" y="274643"/>
            <a:ext cx="82296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2500">
                <a:solidFill>
                  <a:schemeClr val="dk1"/>
                </a:solidFill>
              </a:rPr>
              <a:t>Research </a:t>
            </a:r>
            <a:r>
              <a:rPr b="1" lang="en-US" sz="2500"/>
              <a:t>Paper references</a:t>
            </a:r>
            <a:endParaRPr b="1" sz="2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2" name="Google Shape;102;g3aa94f65de6_0_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03463" y="1416177"/>
            <a:ext cx="1514510" cy="8091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g3aa94f65de6_0_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03463" y="2417960"/>
            <a:ext cx="1514510" cy="8091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g3aa94f65de6_0_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9450" y="3419744"/>
            <a:ext cx="1514500" cy="9228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g3aa94f65de6_0_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03462" y="3419744"/>
            <a:ext cx="1514500" cy="9228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g3aa94f65de6_0_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67475" y="3419744"/>
            <a:ext cx="1514500" cy="9228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g3aa94f65de6_0_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39450" y="4421512"/>
            <a:ext cx="1514500" cy="9228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g3aa94f65de6_0_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103463" y="4421512"/>
            <a:ext cx="1514500" cy="9228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g3aa94f65de6_0_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967475" y="4421512"/>
            <a:ext cx="1514500" cy="9228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g3aa94f65de6_0_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39450" y="5423305"/>
            <a:ext cx="1514500" cy="639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g3aa94f65de6_0_2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103463" y="5423305"/>
            <a:ext cx="1514500" cy="639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g3aa94f65de6_0_2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967475" y="5423305"/>
            <a:ext cx="1514500" cy="639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g3aa94f65de6_0_2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796642" y="1461092"/>
            <a:ext cx="145626" cy="15412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g3aa94f65de6_0_24"/>
          <p:cNvSpPr txBox="1"/>
          <p:nvPr/>
        </p:nvSpPr>
        <p:spPr>
          <a:xfrm>
            <a:off x="2248651" y="1657363"/>
            <a:ext cx="1241700" cy="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User / Chat Interface</a:t>
            </a:r>
            <a:endParaRPr sz="1141"/>
          </a:p>
        </p:txBody>
      </p:sp>
      <p:sp>
        <p:nvSpPr>
          <p:cNvPr id="115" name="Google Shape;115;g3aa94f65de6_0_24"/>
          <p:cNvSpPr txBox="1"/>
          <p:nvPr/>
        </p:nvSpPr>
        <p:spPr>
          <a:xfrm>
            <a:off x="2278214" y="1963305"/>
            <a:ext cx="1182300" cy="2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6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App Chat, Portal, Teams</a:t>
            </a:r>
            <a:endParaRPr sz="1141"/>
          </a:p>
        </p:txBody>
      </p:sp>
      <p:pic>
        <p:nvPicPr>
          <p:cNvPr descr="image.png" id="116" name="Google Shape;116;g3aa94f65de6_0_2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811204" y="2500969"/>
            <a:ext cx="116500" cy="11559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g3aa94f65de6_0_24"/>
          <p:cNvSpPr txBox="1"/>
          <p:nvPr/>
        </p:nvSpPr>
        <p:spPr>
          <a:xfrm>
            <a:off x="2248651" y="2716737"/>
            <a:ext cx="1241700" cy="1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IIRAF API Layer</a:t>
            </a:r>
            <a:endParaRPr sz="1141"/>
          </a:p>
        </p:txBody>
      </p:sp>
      <p:sp>
        <p:nvSpPr>
          <p:cNvPr id="118" name="Google Shape;118;g3aa94f65de6_0_24"/>
          <p:cNvSpPr txBox="1"/>
          <p:nvPr/>
        </p:nvSpPr>
        <p:spPr>
          <a:xfrm>
            <a:off x="2278214" y="2945890"/>
            <a:ext cx="1182300" cy="2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6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FastAPI / Flask / Node.js</a:t>
            </a:r>
            <a:endParaRPr sz="1141"/>
          </a:p>
        </p:txBody>
      </p:sp>
      <p:pic>
        <p:nvPicPr>
          <p:cNvPr descr="image.png" id="119" name="Google Shape;119;g3aa94f65de6_0_2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47192" y="3550744"/>
            <a:ext cx="116500" cy="11559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g3aa94f65de6_0_24"/>
          <p:cNvSpPr txBox="1"/>
          <p:nvPr/>
        </p:nvSpPr>
        <p:spPr>
          <a:xfrm>
            <a:off x="384639" y="3766513"/>
            <a:ext cx="1241700" cy="1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Semantic Search</a:t>
            </a:r>
            <a:endParaRPr sz="1141"/>
          </a:p>
        </p:txBody>
      </p:sp>
      <p:sp>
        <p:nvSpPr>
          <p:cNvPr id="121" name="Google Shape;121;g3aa94f65de6_0_24"/>
          <p:cNvSpPr txBox="1"/>
          <p:nvPr/>
        </p:nvSpPr>
        <p:spPr>
          <a:xfrm>
            <a:off x="414201" y="3966869"/>
            <a:ext cx="1182300" cy="1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6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FAISS / Pinecone</a:t>
            </a:r>
            <a:endParaRPr sz="1141"/>
          </a:p>
        </p:txBody>
      </p:sp>
      <p:pic>
        <p:nvPicPr>
          <p:cNvPr descr="image.png" id="122" name="Google Shape;122;g3aa94f65de6_0_2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2802467" y="3550744"/>
            <a:ext cx="133976" cy="15412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g3aa94f65de6_0_24"/>
          <p:cNvSpPr txBox="1"/>
          <p:nvPr/>
        </p:nvSpPr>
        <p:spPr>
          <a:xfrm>
            <a:off x="2248651" y="3708921"/>
            <a:ext cx="1241700" cy="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Knowledge Base Hub</a:t>
            </a:r>
            <a:endParaRPr sz="1141"/>
          </a:p>
        </p:txBody>
      </p:sp>
      <p:sp>
        <p:nvSpPr>
          <p:cNvPr id="124" name="Google Shape;124;g3aa94f65de6_0_24"/>
          <p:cNvSpPr txBox="1"/>
          <p:nvPr/>
        </p:nvSpPr>
        <p:spPr>
          <a:xfrm>
            <a:off x="2278214" y="4043659"/>
            <a:ext cx="1182300" cy="2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6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ElasticSearch / Confluence</a:t>
            </a:r>
            <a:endParaRPr sz="1141"/>
          </a:p>
        </p:txBody>
      </p:sp>
      <p:pic>
        <p:nvPicPr>
          <p:cNvPr descr="image.png" id="125" name="Google Shape;125;g3aa94f65de6_0_24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4689780" y="3502751"/>
            <a:ext cx="87376" cy="15412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g3aa94f65de6_0_24"/>
          <p:cNvSpPr txBox="1"/>
          <p:nvPr/>
        </p:nvSpPr>
        <p:spPr>
          <a:xfrm>
            <a:off x="4112664" y="3718519"/>
            <a:ext cx="1241700" cy="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Incident Plugin Layer</a:t>
            </a:r>
            <a:endParaRPr sz="1141"/>
          </a:p>
        </p:txBody>
      </p:sp>
      <p:sp>
        <p:nvSpPr>
          <p:cNvPr id="127" name="Google Shape;127;g3aa94f65de6_0_24"/>
          <p:cNvSpPr txBox="1"/>
          <p:nvPr/>
        </p:nvSpPr>
        <p:spPr>
          <a:xfrm>
            <a:off x="4142226" y="4053258"/>
            <a:ext cx="1182300" cy="2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6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ServiceNow / Jira Connectors</a:t>
            </a:r>
            <a:endParaRPr sz="1141"/>
          </a:p>
        </p:txBody>
      </p:sp>
      <p:pic>
        <p:nvPicPr>
          <p:cNvPr descr="image.png" id="128" name="Google Shape;128;g3aa94f65de6_0_24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947192" y="4504533"/>
            <a:ext cx="116500" cy="11559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g3aa94f65de6_0_24"/>
          <p:cNvSpPr txBox="1"/>
          <p:nvPr/>
        </p:nvSpPr>
        <p:spPr>
          <a:xfrm>
            <a:off x="384639" y="4681907"/>
            <a:ext cx="1241700" cy="1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Pattern Detector</a:t>
            </a:r>
            <a:endParaRPr sz="1141"/>
          </a:p>
        </p:txBody>
      </p:sp>
      <p:sp>
        <p:nvSpPr>
          <p:cNvPr id="130" name="Google Shape;130;g3aa94f65de6_0_24"/>
          <p:cNvSpPr txBox="1"/>
          <p:nvPr/>
        </p:nvSpPr>
        <p:spPr>
          <a:xfrm>
            <a:off x="414201" y="5007047"/>
            <a:ext cx="1182300" cy="2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6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ML Models + Rule Engine</a:t>
            </a:r>
            <a:endParaRPr sz="1141"/>
          </a:p>
        </p:txBody>
      </p:sp>
      <p:pic>
        <p:nvPicPr>
          <p:cNvPr descr="image.png" id="131" name="Google Shape;131;g3aa94f65de6_0_24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2796642" y="4504533"/>
            <a:ext cx="145626" cy="15412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g3aa94f65de6_0_24"/>
          <p:cNvSpPr txBox="1"/>
          <p:nvPr/>
        </p:nvSpPr>
        <p:spPr>
          <a:xfrm>
            <a:off x="2248651" y="4681907"/>
            <a:ext cx="1241700" cy="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Autoheal Executor</a:t>
            </a:r>
            <a:endParaRPr sz="1141"/>
          </a:p>
        </p:txBody>
      </p:sp>
      <p:sp>
        <p:nvSpPr>
          <p:cNvPr id="133" name="Google Shape;133;g3aa94f65de6_0_24"/>
          <p:cNvSpPr txBox="1"/>
          <p:nvPr/>
        </p:nvSpPr>
        <p:spPr>
          <a:xfrm>
            <a:off x="2278214" y="5007047"/>
            <a:ext cx="1182300" cy="2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6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Agentic Actions / Scripts</a:t>
            </a:r>
            <a:endParaRPr sz="1141"/>
          </a:p>
        </p:txBody>
      </p:sp>
      <p:pic>
        <p:nvPicPr>
          <p:cNvPr descr="image.png" id="134" name="Google Shape;134;g3aa94f65de6_0_24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4675217" y="4504533"/>
            <a:ext cx="116500" cy="11559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g3aa94f65de6_0_24"/>
          <p:cNvSpPr txBox="1"/>
          <p:nvPr/>
        </p:nvSpPr>
        <p:spPr>
          <a:xfrm>
            <a:off x="4112664" y="4681907"/>
            <a:ext cx="1241700" cy="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Feedback Processor</a:t>
            </a:r>
            <a:endParaRPr sz="1141"/>
          </a:p>
        </p:txBody>
      </p:sp>
      <p:sp>
        <p:nvSpPr>
          <p:cNvPr id="136" name="Google Shape;136;g3aa94f65de6_0_24"/>
          <p:cNvSpPr txBox="1"/>
          <p:nvPr/>
        </p:nvSpPr>
        <p:spPr>
          <a:xfrm>
            <a:off x="4142226" y="5007047"/>
            <a:ext cx="1182300" cy="2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6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Retrain / Refine Models</a:t>
            </a:r>
            <a:endParaRPr sz="1141"/>
          </a:p>
        </p:txBody>
      </p:sp>
      <p:pic>
        <p:nvPicPr>
          <p:cNvPr descr="image.png" id="137" name="Google Shape;137;g3aa94f65de6_0_24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944280" y="5521799"/>
            <a:ext cx="104850" cy="8691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g3aa94f65de6_0_24"/>
          <p:cNvSpPr txBox="1"/>
          <p:nvPr/>
        </p:nvSpPr>
        <p:spPr>
          <a:xfrm>
            <a:off x="366727" y="5684032"/>
            <a:ext cx="1260300" cy="1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Storage Layer</a:t>
            </a:r>
            <a:endParaRPr sz="1141"/>
          </a:p>
        </p:txBody>
      </p:sp>
      <p:sp>
        <p:nvSpPr>
          <p:cNvPr id="139" name="Google Shape;139;g3aa94f65de6_0_24"/>
          <p:cNvSpPr txBox="1"/>
          <p:nvPr/>
        </p:nvSpPr>
        <p:spPr>
          <a:xfrm>
            <a:off x="396726" y="5834676"/>
            <a:ext cx="1200000" cy="1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6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PostgreSQL / S3</a:t>
            </a:r>
            <a:endParaRPr sz="1141"/>
          </a:p>
        </p:txBody>
      </p:sp>
      <p:pic>
        <p:nvPicPr>
          <p:cNvPr descr="image.png" id="140" name="Google Shape;140;g3aa94f65de6_0_24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2802467" y="5521799"/>
            <a:ext cx="116500" cy="8691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g3aa94f65de6_0_24"/>
          <p:cNvSpPr txBox="1"/>
          <p:nvPr/>
        </p:nvSpPr>
        <p:spPr>
          <a:xfrm>
            <a:off x="2230739" y="5684032"/>
            <a:ext cx="1260300" cy="1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Audit Logs</a:t>
            </a:r>
            <a:endParaRPr sz="1141"/>
          </a:p>
        </p:txBody>
      </p:sp>
      <p:sp>
        <p:nvSpPr>
          <p:cNvPr id="142" name="Google Shape;142;g3aa94f65de6_0_24"/>
          <p:cNvSpPr txBox="1"/>
          <p:nvPr/>
        </p:nvSpPr>
        <p:spPr>
          <a:xfrm>
            <a:off x="2260739" y="5834676"/>
            <a:ext cx="1200000" cy="1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6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Action History</a:t>
            </a:r>
            <a:endParaRPr sz="1141"/>
          </a:p>
        </p:txBody>
      </p:sp>
      <p:pic>
        <p:nvPicPr>
          <p:cNvPr descr="image.png" id="143" name="Google Shape;143;g3aa94f65de6_0_24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4666480" y="5521799"/>
            <a:ext cx="116500" cy="8691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g3aa94f65de6_0_24"/>
          <p:cNvSpPr txBox="1"/>
          <p:nvPr/>
        </p:nvSpPr>
        <p:spPr>
          <a:xfrm>
            <a:off x="4094752" y="5684032"/>
            <a:ext cx="1260300" cy="1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Notification</a:t>
            </a:r>
            <a:endParaRPr sz="1141"/>
          </a:p>
        </p:txBody>
      </p:sp>
      <p:sp>
        <p:nvSpPr>
          <p:cNvPr id="145" name="Google Shape;145;g3aa94f65de6_0_24"/>
          <p:cNvSpPr txBox="1"/>
          <p:nvPr/>
        </p:nvSpPr>
        <p:spPr>
          <a:xfrm>
            <a:off x="4124751" y="5834676"/>
            <a:ext cx="1200000" cy="1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6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Email / Slack Queue</a:t>
            </a:r>
            <a:endParaRPr sz="1141"/>
          </a:p>
        </p:txBody>
      </p:sp>
      <p:sp>
        <p:nvSpPr>
          <p:cNvPr id="146" name="Google Shape;146;g3aa94f65de6_0_24"/>
          <p:cNvSpPr txBox="1"/>
          <p:nvPr/>
        </p:nvSpPr>
        <p:spPr>
          <a:xfrm>
            <a:off x="6036672" y="1558488"/>
            <a:ext cx="2843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366F1"/>
                </a:solidFill>
                <a:latin typeface="Inter"/>
                <a:ea typeface="Inter"/>
                <a:cs typeface="Inter"/>
                <a:sym typeface="Inter"/>
              </a:rPr>
              <a:t>1. The Entry Point</a:t>
            </a:r>
            <a:r>
              <a:rPr b="0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User reports an issue (e.g., "Payment Error") via Chat/Portal. Raw text payload is sent to backend.</a:t>
            </a:r>
            <a:endParaRPr/>
          </a:p>
        </p:txBody>
      </p:sp>
      <p:sp>
        <p:nvSpPr>
          <p:cNvPr id="147" name="Google Shape;147;g3aa94f65de6_0_24"/>
          <p:cNvSpPr txBox="1"/>
          <p:nvPr/>
        </p:nvSpPr>
        <p:spPr>
          <a:xfrm>
            <a:off x="6036672" y="2546050"/>
            <a:ext cx="2843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2. The Gateway (API)</a:t>
            </a:r>
            <a:r>
              <a:rPr b="0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API Layer authenticates the request and routes traffic to specific engines for processing.</a:t>
            </a:r>
            <a:endParaRPr/>
          </a:p>
        </p:txBody>
      </p:sp>
      <p:sp>
        <p:nvSpPr>
          <p:cNvPr id="148" name="Google Shape;148;g3aa94f65de6_0_24"/>
          <p:cNvSpPr txBox="1"/>
          <p:nvPr/>
        </p:nvSpPr>
        <p:spPr>
          <a:xfrm>
            <a:off x="6036672" y="3479526"/>
            <a:ext cx="2843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3. Intelligence Retrieval</a:t>
            </a:r>
            <a:r>
              <a:rPr b="0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System converts text to vectors to find similar historical incidents and relevant KB articles simultaneously.</a:t>
            </a:r>
            <a:endParaRPr/>
          </a:p>
        </p:txBody>
      </p:sp>
      <p:sp>
        <p:nvSpPr>
          <p:cNvPr id="149" name="Google Shape;149;g3aa94f65de6_0_24"/>
          <p:cNvSpPr txBox="1"/>
          <p:nvPr/>
        </p:nvSpPr>
        <p:spPr>
          <a:xfrm>
            <a:off x="6036672" y="4402185"/>
            <a:ext cx="2843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4. Decision &amp; Action</a:t>
            </a:r>
            <a:r>
              <a:rPr b="0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Pattern Detector flags recurring issues. Validated patterns trigger the Autoheal Executor scripts.</a:t>
            </a:r>
            <a:endParaRPr/>
          </a:p>
        </p:txBody>
      </p:sp>
      <p:sp>
        <p:nvSpPr>
          <p:cNvPr id="150" name="Google Shape;150;g3aa94f65de6_0_24"/>
          <p:cNvSpPr txBox="1"/>
          <p:nvPr/>
        </p:nvSpPr>
        <p:spPr>
          <a:xfrm>
            <a:off x="6036672" y="5443832"/>
            <a:ext cx="2843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5. Persistence</a:t>
            </a:r>
            <a:r>
              <a:rPr b="0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Incident data and patterns are stored. Audit logs record automated actions. Team is notified.</a:t>
            </a:r>
            <a:endParaRPr/>
          </a:p>
        </p:txBody>
      </p:sp>
      <p:sp>
        <p:nvSpPr>
          <p:cNvPr id="151" name="Google Shape;151;g3aa94f65de6_0_24"/>
          <p:cNvSpPr/>
          <p:nvPr/>
        </p:nvSpPr>
        <p:spPr>
          <a:xfrm>
            <a:off x="5882116" y="1599310"/>
            <a:ext cx="114300" cy="1524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g3aa94f65de6_0_24"/>
          <p:cNvSpPr/>
          <p:nvPr/>
        </p:nvSpPr>
        <p:spPr>
          <a:xfrm>
            <a:off x="5882116" y="2586871"/>
            <a:ext cx="114300" cy="1524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g3aa94f65de6_0_24"/>
          <p:cNvSpPr/>
          <p:nvPr/>
        </p:nvSpPr>
        <p:spPr>
          <a:xfrm>
            <a:off x="5882116" y="3520348"/>
            <a:ext cx="114300" cy="1524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3aa94f65de6_0_24"/>
          <p:cNvSpPr/>
          <p:nvPr/>
        </p:nvSpPr>
        <p:spPr>
          <a:xfrm>
            <a:off x="5882116" y="4443006"/>
            <a:ext cx="114300" cy="1524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3aa94f65de6_0_24"/>
          <p:cNvSpPr/>
          <p:nvPr/>
        </p:nvSpPr>
        <p:spPr>
          <a:xfrm>
            <a:off x="5882116" y="5484653"/>
            <a:ext cx="114300" cy="1524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6" name="Google Shape;156;g3aa94f65de6_0_24"/>
          <p:cNvCxnSpPr>
            <a:stCxn id="151" idx="2"/>
            <a:endCxn id="152" idx="0"/>
          </p:cNvCxnSpPr>
          <p:nvPr/>
        </p:nvCxnSpPr>
        <p:spPr>
          <a:xfrm>
            <a:off x="5939266" y="1751710"/>
            <a:ext cx="0" cy="835200"/>
          </a:xfrm>
          <a:prstGeom prst="straightConnector1">
            <a:avLst/>
          </a:prstGeom>
          <a:noFill/>
          <a:ln cap="flat" cmpd="sng" w="9525">
            <a:solidFill>
              <a:srgbClr val="1F497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" name="Google Shape;157;g3aa94f65de6_0_24"/>
          <p:cNvCxnSpPr>
            <a:stCxn id="152" idx="2"/>
          </p:cNvCxnSpPr>
          <p:nvPr/>
        </p:nvCxnSpPr>
        <p:spPr>
          <a:xfrm flipH="1">
            <a:off x="5933866" y="2739271"/>
            <a:ext cx="5400" cy="758400"/>
          </a:xfrm>
          <a:prstGeom prst="straightConnector1">
            <a:avLst/>
          </a:prstGeom>
          <a:noFill/>
          <a:ln cap="flat" cmpd="sng" w="9525">
            <a:solidFill>
              <a:srgbClr val="1F497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" name="Google Shape;158;g3aa94f65de6_0_24"/>
          <p:cNvCxnSpPr>
            <a:endCxn id="154" idx="0"/>
          </p:cNvCxnSpPr>
          <p:nvPr/>
        </p:nvCxnSpPr>
        <p:spPr>
          <a:xfrm>
            <a:off x="5935966" y="3667206"/>
            <a:ext cx="3300" cy="775800"/>
          </a:xfrm>
          <a:prstGeom prst="straightConnector1">
            <a:avLst/>
          </a:prstGeom>
          <a:noFill/>
          <a:ln cap="flat" cmpd="sng" w="9525">
            <a:solidFill>
              <a:srgbClr val="1F497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" name="Google Shape;159;g3aa94f65de6_0_24"/>
          <p:cNvCxnSpPr>
            <a:stCxn id="154" idx="2"/>
            <a:endCxn id="155" idx="0"/>
          </p:cNvCxnSpPr>
          <p:nvPr/>
        </p:nvCxnSpPr>
        <p:spPr>
          <a:xfrm>
            <a:off x="5939266" y="4595406"/>
            <a:ext cx="0" cy="889200"/>
          </a:xfrm>
          <a:prstGeom prst="straightConnector1">
            <a:avLst/>
          </a:prstGeom>
          <a:noFill/>
          <a:ln cap="flat" cmpd="sng" w="9525">
            <a:solidFill>
              <a:srgbClr val="1F497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0" name="Google Shape;160;g3aa94f65de6_0_24"/>
          <p:cNvSpPr txBox="1"/>
          <p:nvPr/>
        </p:nvSpPr>
        <p:spPr>
          <a:xfrm>
            <a:off x="285750" y="285750"/>
            <a:ext cx="5815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 Architecture &amp; Data Flow</a:t>
            </a:r>
            <a:endParaRPr b="1"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5" name="Google Shape;165;g3aa94f65de6_0_8"/>
          <p:cNvGraphicFramePr/>
          <p:nvPr/>
        </p:nvGraphicFramePr>
        <p:xfrm>
          <a:off x="509362" y="211028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{507D5991-B0F4-4C90-BD46-75C6E19B6DFB}</a:tableStyleId>
              </a:tblPr>
              <a:tblGrid>
                <a:gridCol w="2473175"/>
                <a:gridCol w="2107950"/>
                <a:gridCol w="3850650"/>
              </a:tblGrid>
              <a:tr h="2917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Tool</a:t>
                      </a:r>
                      <a:endParaRPr b="1" sz="12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Purpose</a:t>
                      </a:r>
                      <a:endParaRPr b="1" sz="12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Why Used in IIRAF (Concise)</a:t>
                      </a:r>
                      <a:endParaRPr b="1" sz="12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394"/>
                    </a:solidFill>
                  </a:tcPr>
                </a:tc>
              </a:tr>
              <a:tr h="405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Sentence Transformers (MiniLM-L6-V2)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Generate semantic embeddings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Fast, accurate text understanding for incident similarity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5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FAISS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Vector similarity search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Extremely fast retrieval of similar incidents/KB articles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Scikit-learn (KMeans/HDBSCAN)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Pattern detection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Simple, reliable clustering for recurring issues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5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XGBoost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Auto-heal prediction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 accuracy on tabular incident data; industry standard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FastAPI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Serve models &amp; APIs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Lightweight, fast, ideal for ML inference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5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MLflow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Track experiments &amp; models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Ensures reproducibility and organized model versions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GitHub Actions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CI automation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Quick automated checks for stable code builds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5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Docker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Containerization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Consistent, portable deployment across environments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Docker Compose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Multi-service setup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Easy local orchestration of API + DB + vector store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Airflow / Prefect (Future)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Automated retraining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Scales to periodic retraining &amp; pipeline automation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6" name="Google Shape;166;g3aa94f65de6_0_8"/>
          <p:cNvSpPr txBox="1"/>
          <p:nvPr/>
        </p:nvSpPr>
        <p:spPr>
          <a:xfrm>
            <a:off x="865362" y="6068355"/>
            <a:ext cx="6230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3aa94f65de6_0_8"/>
          <p:cNvSpPr txBox="1"/>
          <p:nvPr/>
        </p:nvSpPr>
        <p:spPr>
          <a:xfrm>
            <a:off x="509374" y="735550"/>
            <a:ext cx="8431800" cy="1200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tool was selected based on practicality for a PoC and scalability for an enterprise deployment.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SentenceTransformers + FAISS give strong semantic search.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Scikit-learn + XGBoost cover pattern detection and auto-heal decisions.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FastAPI + Docker provide a clean deployment layer.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MLflow and GitHub Actions ensure reproducibility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Airflow/Prefect are planned for future retraining automation.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g3aa94f65de6_0_8"/>
          <p:cNvSpPr txBox="1"/>
          <p:nvPr>
            <p:ph type="title"/>
          </p:nvPr>
        </p:nvSpPr>
        <p:spPr>
          <a:xfrm>
            <a:off x="457200" y="274641"/>
            <a:ext cx="82296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 Sta</a:t>
            </a:r>
            <a:r>
              <a:rPr lang="en-US" sz="3000"/>
              <a:t>ck </a:t>
            </a: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 sz="3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"/>
          <p:cNvSpPr txBox="1"/>
          <p:nvPr>
            <p:ph idx="1" type="body"/>
          </p:nvPr>
        </p:nvSpPr>
        <p:spPr>
          <a:xfrm>
            <a:off x="457200" y="767288"/>
            <a:ext cx="8780700" cy="28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2500"/>
              <a:t>Performance Measures</a:t>
            </a:r>
            <a:endParaRPr b="1" sz="25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b="1" lang="en-US" sz="1500"/>
              <a:t>Precision@K &amp; Recall@K</a:t>
            </a:r>
            <a:r>
              <a:rPr lang="en-US" sz="1500"/>
              <a:t> → measure accuracy of semantic incident retrieval.</a:t>
            </a:r>
            <a:endParaRPr sz="15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b="1" lang="en-US" sz="1500"/>
              <a:t>Silhouette Score</a:t>
            </a:r>
            <a:r>
              <a:rPr lang="en-US" sz="1500"/>
              <a:t> → evaluates clustering quality for pattern detection.</a:t>
            </a:r>
            <a:endParaRPr sz="15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b="1" lang="en-US" sz="1500"/>
              <a:t>F1 Score &amp; ROC-AUC</a:t>
            </a:r>
            <a:r>
              <a:rPr lang="en-US" sz="1500"/>
              <a:t> → assess auto-heal prediction model performance.</a:t>
            </a:r>
            <a:endParaRPr sz="15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b="1" lang="en-US" sz="1500"/>
              <a:t>MTTR Reduction</a:t>
            </a:r>
            <a:r>
              <a:rPr lang="en-US" sz="1500"/>
              <a:t> → measures improvement in incident resolution time.</a:t>
            </a:r>
            <a:endParaRPr sz="15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b="1" lang="en-US" sz="1500"/>
              <a:t>Repeated Incident Reduction</a:t>
            </a:r>
            <a:r>
              <a:rPr lang="en-US" sz="1500"/>
              <a:t> → evaluates effectiveness of pattern detection.</a:t>
            </a:r>
            <a:endParaRPr sz="15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b="1" lang="en-US" sz="1500"/>
              <a:t>Auto-Heal Success Rate</a:t>
            </a:r>
            <a:r>
              <a:rPr lang="en-US" sz="1500"/>
              <a:t> → tracks how often automated fixes resolve issues correctly.</a:t>
            </a:r>
            <a:endParaRPr sz="15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b="1" lang="en-US" sz="1500"/>
              <a:t>User/Agent Satisfaction Feedback</a:t>
            </a:r>
            <a:r>
              <a:rPr lang="en-US" sz="1500"/>
              <a:t> → checks usability and clarity of AI recommendations.</a:t>
            </a:r>
            <a:endParaRPr sz="1500"/>
          </a:p>
        </p:txBody>
      </p:sp>
      <p:sp>
        <p:nvSpPr>
          <p:cNvPr id="174" name="Google Shape;174;p6"/>
          <p:cNvSpPr txBox="1"/>
          <p:nvPr/>
        </p:nvSpPr>
        <p:spPr>
          <a:xfrm>
            <a:off x="457200" y="4099658"/>
            <a:ext cx="62307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Execution / Roadmap:</a:t>
            </a:r>
            <a:endParaRPr b="1"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creation → Semantic search → Retrieval.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detection → Auto‑heal model.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API + Ticketing integration → Evaluation.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aa94f65de6_0_175"/>
          <p:cNvSpPr txBox="1"/>
          <p:nvPr>
            <p:ph type="title"/>
          </p:nvPr>
        </p:nvSpPr>
        <p:spPr>
          <a:xfrm>
            <a:off x="457200" y="285468"/>
            <a:ext cx="8229600" cy="460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Sample / Mock screen</a:t>
            </a:r>
            <a:endParaRPr sz="2500"/>
          </a:p>
        </p:txBody>
      </p:sp>
      <p:pic>
        <p:nvPicPr>
          <p:cNvPr id="180" name="Google Shape;180;g3aa94f65de6_0_175" title="Mock_iiraf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98668"/>
            <a:ext cx="8839199" cy="561949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